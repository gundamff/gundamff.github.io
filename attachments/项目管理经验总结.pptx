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70815" autoAdjust="0"/>
  </p:normalViewPr>
  <p:slideViewPr>
    <p:cSldViewPr snapToGrid="0">
      <p:cViewPr varScale="1">
        <p:scale>
          <a:sx n="72" d="100"/>
          <a:sy n="72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3487B-7941-4317-BFD2-DD9EB831DC96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3093F-23A5-47C5-A3F8-4E8157A0AC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86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项目的目的 </a:t>
            </a:r>
            <a:r>
              <a:rPr lang="en-US" altLang="zh-CN" dirty="0"/>
              <a:t>:</a:t>
            </a:r>
            <a:r>
              <a:rPr lang="zh-CN" altLang="en-US" dirty="0"/>
              <a:t>挣钱</a:t>
            </a:r>
            <a:endParaRPr lang="en-US" altLang="zh-CN" dirty="0"/>
          </a:p>
          <a:p>
            <a:r>
              <a:rPr lang="zh-CN" altLang="en-US" dirty="0"/>
              <a:t>项目管理的目的</a:t>
            </a:r>
            <a:r>
              <a:rPr lang="en-US" altLang="zh-CN" dirty="0"/>
              <a:t>:</a:t>
            </a:r>
            <a:r>
              <a:rPr lang="zh-CN" altLang="en-US" dirty="0"/>
              <a:t>站着挣钱</a:t>
            </a:r>
            <a:endParaRPr lang="en-US" altLang="zh-CN" dirty="0"/>
          </a:p>
          <a:p>
            <a:r>
              <a:rPr lang="zh-CN" altLang="en-US" dirty="0"/>
              <a:t>区别跪着和躺着</a:t>
            </a:r>
            <a:r>
              <a:rPr lang="en-US" altLang="zh-CN" dirty="0"/>
              <a:t>,</a:t>
            </a:r>
            <a:r>
              <a:rPr lang="zh-CN" altLang="en-US" dirty="0"/>
              <a:t>站着要堂堂正正</a:t>
            </a:r>
            <a:r>
              <a:rPr lang="en-US" altLang="zh-CN" dirty="0"/>
              <a:t>,</a:t>
            </a:r>
            <a:r>
              <a:rPr lang="zh-CN" altLang="en-US" dirty="0"/>
              <a:t>有原则有底线</a:t>
            </a:r>
            <a:r>
              <a:rPr lang="en-US" altLang="zh-CN" dirty="0"/>
              <a:t>,</a:t>
            </a:r>
            <a:r>
              <a:rPr lang="zh-CN" altLang="en-US" dirty="0"/>
              <a:t>少用不上台面的小手段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591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每个人的项目管理生涯都是这样开始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某一天上司安排了一个项目给你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并要求在某某日期前上线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实现一堆功能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用专业术语讲就是在满足项目铁三角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成本和质量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的情况下交付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紧接着你就把各种项目管理工具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最佳实践都用上了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拉上人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跟踪进度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加班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十八般武艺都用上之后呐也顺利交付了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也会觉得项目管理也不怎么难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只要跟着计划走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把既定的事情搞定就可以了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325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用专业术语讲就是在满足项目铁三角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成本和质量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的情况下交付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对一个项目来说当然最理想的情况就是“多、快、好、省”。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“多”指工作范围大，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“快”指时间短、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“好”指质量高，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“省”指成本低。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但是，这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者之间是相互关联的，提高一个指标的同时会降低另一个指标。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265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518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这是一种类似作坊的开发方式</a:t>
            </a:r>
            <a:r>
              <a:rPr lang="en-US" altLang="zh-CN" dirty="0"/>
              <a:t>, </a:t>
            </a:r>
            <a:r>
              <a:rPr lang="zh-CN" altLang="zh-CN" dirty="0"/>
              <a:t>没有规格说明，也没有经过设计，软件随着客户的需要一次又一次地不断被修改。在这个模型中，开发人员拿到项目立即根据需求编写程序，调试通过后生成软件的第一个版本。在提供给用户使用后，如果程序出现错误，或者用户提出新的要求，开发人员重新修改代码，直到用户和测试等等满意为止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60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是一种老旧的计算机软件开发方式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必须严格按照线性方式进行，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当前活动接受上一项活动的工作结果，实施完成所需的工作内容。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当前活动的工作结果需要进行验证，如验证通过，则该结果作为下一项活动的输入，继续进行下一项活动，否则返回修改。 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瀑布式的主要的问题是它的太过线性理想化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正常情况下对于大型项目完全是不可行的。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53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迭代是边做边改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瀑布的结合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每次只设计和实现这个产品的一部分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再通过客户的反馈来细化需求，并开始新一轮的迭代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每一次迭代都包括了需求分析、设计、实现与测试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允许每次迭代都存在问题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而且不强求每次都完善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目的是尽快上线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得到反馈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进入下一次迭代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是个试错然后逐步完善的过程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浪费工作量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反复迭代忽略用户体验和感受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导致用户的不信任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如果初期架构设计有局限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在后期迭代时框架容易崩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739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这其实是项目管理模式</a:t>
            </a:r>
            <a:r>
              <a:rPr lang="en-US" altLang="zh-CN" dirty="0"/>
              <a:t>,</a:t>
            </a:r>
            <a:r>
              <a:rPr lang="zh-CN" altLang="en-US" dirty="0"/>
              <a:t>不是开发模式</a:t>
            </a:r>
            <a:r>
              <a:rPr lang="en-US" altLang="zh-CN" dirty="0"/>
              <a:t>,</a:t>
            </a:r>
            <a:r>
              <a:rPr lang="zh-CN" altLang="en-US" dirty="0"/>
              <a:t>与敏捷对应的应该是极限编程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208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zh-CN" dirty="0"/>
              <a:t>必须有且只有一个需求提出者</a:t>
            </a:r>
            <a:r>
              <a:rPr lang="en-US" altLang="zh-CN" dirty="0"/>
              <a:t>/</a:t>
            </a:r>
            <a:r>
              <a:rPr lang="zh-CN" altLang="zh-CN" dirty="0"/>
              <a:t>声音</a:t>
            </a:r>
            <a:r>
              <a:rPr lang="en-US" altLang="zh-CN" dirty="0"/>
              <a:t>, </a:t>
            </a:r>
            <a:r>
              <a:rPr lang="zh-CN" altLang="zh-CN" dirty="0"/>
              <a:t>避免提出重复需求</a:t>
            </a:r>
            <a:r>
              <a:rPr lang="en-US" altLang="zh-CN" dirty="0"/>
              <a:t>,</a:t>
            </a:r>
            <a:r>
              <a:rPr lang="zh-CN" altLang="zh-CN" dirty="0"/>
              <a:t>避免</a:t>
            </a:r>
            <a:r>
              <a:rPr lang="en-US" altLang="zh-CN" dirty="0"/>
              <a:t> </a:t>
            </a:r>
            <a:r>
              <a:rPr lang="zh-CN" altLang="zh-CN" dirty="0"/>
              <a:t>需求变更可能引起冲突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任何需求都可以给出一种以上的解决方案</a:t>
            </a:r>
            <a:r>
              <a:rPr lang="en-US" altLang="zh-CN" dirty="0"/>
              <a:t>,</a:t>
            </a:r>
            <a:r>
              <a:rPr lang="zh-CN" altLang="zh-CN" dirty="0"/>
              <a:t>任何解决方案都有优缺点</a:t>
            </a:r>
            <a:r>
              <a:rPr lang="en-US" altLang="zh-CN" dirty="0"/>
              <a:t>,</a:t>
            </a:r>
            <a:r>
              <a:rPr lang="zh-CN" altLang="zh-CN" dirty="0"/>
              <a:t>成本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dirty="0"/>
              <a:t>需求评审</a:t>
            </a:r>
            <a:r>
              <a:rPr lang="en-US" altLang="zh-CN" dirty="0"/>
              <a:t>(</a:t>
            </a:r>
            <a:r>
              <a:rPr lang="zh-CN" altLang="zh-CN" dirty="0"/>
              <a:t>如果有的话</a:t>
            </a:r>
            <a:r>
              <a:rPr lang="en-US" altLang="zh-CN" dirty="0"/>
              <a:t>)</a:t>
            </a:r>
            <a:r>
              <a:rPr lang="zh-CN" altLang="zh-CN" dirty="0"/>
              <a:t>时的需求规格说明书</a:t>
            </a:r>
            <a:r>
              <a:rPr lang="en-US" altLang="zh-CN" dirty="0"/>
              <a:t>(</a:t>
            </a:r>
            <a:r>
              <a:rPr lang="zh-CN" altLang="zh-CN" dirty="0"/>
              <a:t>如果有的话</a:t>
            </a:r>
            <a:r>
              <a:rPr lang="en-US" altLang="zh-CN" dirty="0"/>
              <a:t>)</a:t>
            </a:r>
            <a:r>
              <a:rPr lang="zh-CN" altLang="zh-CN" dirty="0"/>
              <a:t>中必要的部分</a:t>
            </a:r>
            <a:r>
              <a:rPr lang="en-US" altLang="zh-CN" dirty="0"/>
              <a:t>,</a:t>
            </a:r>
            <a:r>
              <a:rPr lang="zh-CN" altLang="zh-CN" dirty="0"/>
              <a:t>描述了系统应该做什么</a:t>
            </a:r>
            <a:r>
              <a:rPr lang="en-US" altLang="zh-CN" dirty="0"/>
              <a:t>,</a:t>
            </a:r>
            <a:r>
              <a:rPr lang="zh-CN" altLang="zh-CN" dirty="0"/>
              <a:t>也指出了系统不支持什么</a:t>
            </a:r>
            <a:r>
              <a:rPr lang="en-US" altLang="zh-CN" dirty="0"/>
              <a:t>,</a:t>
            </a:r>
            <a:r>
              <a:rPr lang="zh-CN" altLang="zh-CN" dirty="0"/>
              <a:t>需要客户</a:t>
            </a:r>
            <a:r>
              <a:rPr lang="en-US" altLang="zh-CN" dirty="0"/>
              <a:t>/</a:t>
            </a:r>
            <a:r>
              <a:rPr lang="zh-CN" altLang="zh-CN" dirty="0"/>
              <a:t>产品</a:t>
            </a:r>
            <a:r>
              <a:rPr lang="en-US" altLang="zh-CN" dirty="0"/>
              <a:t>/</a:t>
            </a:r>
            <a:r>
              <a:rPr lang="zh-CN" altLang="zh-CN" dirty="0"/>
              <a:t>策划确认一致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五颜六色的黑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这几个按钮颜色加深一下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运行环境要求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PHP+mysql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从国家平台导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导青岛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人人都爱出主意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“不但要听用户怎么说，还要看用户怎么做”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“不但要看用户怎么做，还要分析用户的目标”</a:t>
            </a:r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47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060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609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理想人日</a:t>
            </a:r>
            <a:r>
              <a:rPr lang="en-US" altLang="zh-CN" dirty="0"/>
              <a:t>,</a:t>
            </a:r>
            <a:r>
              <a:rPr lang="zh-CN" altLang="en-US" dirty="0"/>
              <a:t>更容易被外部的人理解</a:t>
            </a:r>
          </a:p>
          <a:p>
            <a:r>
              <a:rPr lang="zh-CN" altLang="en-US" dirty="0"/>
              <a:t>理想人时</a:t>
            </a:r>
            <a:r>
              <a:rPr lang="en-US" altLang="zh-CN" dirty="0"/>
              <a:t>,</a:t>
            </a:r>
            <a:r>
              <a:rPr lang="zh-CN" altLang="en-US" dirty="0"/>
              <a:t>需要需求</a:t>
            </a:r>
            <a:r>
              <a:rPr lang="en-US" altLang="zh-CN" dirty="0"/>
              <a:t>/</a:t>
            </a:r>
            <a:r>
              <a:rPr lang="zh-CN" altLang="en-US" dirty="0"/>
              <a:t>设计更明确</a:t>
            </a:r>
            <a:r>
              <a:rPr lang="en-US" altLang="zh-CN" dirty="0"/>
              <a:t>,</a:t>
            </a:r>
            <a:r>
              <a:rPr lang="zh-CN" altLang="en-US" dirty="0"/>
              <a:t>估算更准确</a:t>
            </a:r>
          </a:p>
          <a:p>
            <a:r>
              <a:rPr lang="zh-CN" altLang="en-US" dirty="0"/>
              <a:t>故事点</a:t>
            </a:r>
            <a:r>
              <a:rPr lang="en-US" altLang="zh-CN" dirty="0"/>
              <a:t>,</a:t>
            </a:r>
            <a:r>
              <a:rPr lang="zh-CN" altLang="en-US" dirty="0"/>
              <a:t>敏捷中的概念</a:t>
            </a:r>
            <a:r>
              <a:rPr lang="en-US" altLang="zh-CN" dirty="0"/>
              <a:t>,</a:t>
            </a:r>
            <a:r>
              <a:rPr lang="zh-CN" altLang="en-US" dirty="0"/>
              <a:t>是对任务规模的估计</a:t>
            </a:r>
            <a:r>
              <a:rPr lang="en-US" altLang="zh-CN" dirty="0"/>
              <a:t>,</a:t>
            </a:r>
            <a:r>
              <a:rPr lang="zh-CN" altLang="en-US" dirty="0"/>
              <a:t>它是一种相对值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需求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4</a:t>
            </a:r>
            <a:r>
              <a:rPr lang="zh-CN" altLang="en-US" dirty="0"/>
              <a:t>个故事点</a:t>
            </a:r>
            <a:r>
              <a:rPr lang="en-US" altLang="zh-CN" dirty="0"/>
              <a:t>,</a:t>
            </a:r>
            <a:r>
              <a:rPr lang="zh-CN" altLang="en-US" dirty="0"/>
              <a:t>需求</a:t>
            </a:r>
            <a:r>
              <a:rPr lang="en-US" altLang="zh-CN" dirty="0"/>
              <a:t>Y</a:t>
            </a:r>
            <a:r>
              <a:rPr lang="zh-CN" altLang="en-US" dirty="0"/>
              <a:t>为</a:t>
            </a:r>
            <a:r>
              <a:rPr lang="en-US" altLang="zh-CN" dirty="0"/>
              <a:t>8</a:t>
            </a:r>
            <a:r>
              <a:rPr lang="zh-CN" altLang="en-US" dirty="0"/>
              <a:t>个故事点</a:t>
            </a:r>
            <a:r>
              <a:rPr lang="en-US" altLang="zh-CN" dirty="0"/>
              <a:t>,</a:t>
            </a:r>
            <a:r>
              <a:rPr lang="zh-CN" altLang="en-US" dirty="0"/>
              <a:t>表示</a:t>
            </a:r>
            <a:r>
              <a:rPr lang="en-US" altLang="zh-CN" dirty="0"/>
              <a:t>Y</a:t>
            </a:r>
            <a:r>
              <a:rPr lang="zh-CN" altLang="en-US" dirty="0"/>
              <a:t>的规模是</a:t>
            </a:r>
            <a:r>
              <a:rPr lang="en-US" altLang="zh-CN" dirty="0"/>
              <a:t>X</a:t>
            </a:r>
            <a:r>
              <a:rPr lang="zh-CN" altLang="en-US" dirty="0"/>
              <a:t>的两倍</a:t>
            </a:r>
            <a:r>
              <a:rPr lang="en-US" altLang="zh-CN" dirty="0"/>
              <a:t>,</a:t>
            </a:r>
            <a:r>
              <a:rPr lang="zh-CN" altLang="en-US" dirty="0"/>
              <a:t>但不表示开发</a:t>
            </a:r>
            <a:r>
              <a:rPr lang="en-US" altLang="zh-CN" dirty="0"/>
              <a:t>Y</a:t>
            </a:r>
            <a:r>
              <a:rPr lang="zh-CN" altLang="en-US" dirty="0"/>
              <a:t>比</a:t>
            </a:r>
            <a:r>
              <a:rPr lang="en-US" altLang="zh-CN" dirty="0"/>
              <a:t>X</a:t>
            </a:r>
            <a:r>
              <a:rPr lang="zh-CN" altLang="en-US" dirty="0"/>
              <a:t>多一倍的时间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5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257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902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1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3093F-23A5-47C5-A3F8-4E8157A0AC7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488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33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46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01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95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10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707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60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55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0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6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524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04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88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97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55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7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D63BFB-6C94-444F-8E32-71499E435EF3}" type="datetimeFigureOut">
              <a:rPr lang="zh-CN" altLang="en-US" smtClean="0"/>
              <a:t>2018/3/16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7298CC-D21C-4F56-8156-0100174BF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91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4B4A0-B755-4241-9E57-36ED7C1CB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项目管理之个人经验总结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C14DE6-40EB-47E3-B2CD-DF09669834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学着站着把钱挣了</a:t>
            </a:r>
          </a:p>
        </p:txBody>
      </p:sp>
    </p:spTree>
    <p:extLst>
      <p:ext uri="{BB962C8B-B14F-4D97-AF65-F5344CB8AC3E}">
        <p14:creationId xmlns:p14="http://schemas.microsoft.com/office/powerpoint/2010/main" val="1914261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03BF673-8C68-4092-BF1B-53C57EFEC21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4062127" y="-15832"/>
            <a:ext cx="8129873" cy="6889518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BA7535-3851-431E-BDA9-B4F6C1201291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3893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CB7126B-8CAD-49E7-ACA6-44504341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25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zh-CN" altLang="en-US" sz="3200" dirty="0"/>
              <a:t>开始一个项目</a:t>
            </a:r>
            <a:br>
              <a:rPr lang="en-US" altLang="zh-CN" sz="3200" dirty="0"/>
            </a:br>
            <a:br>
              <a:rPr lang="en-US" altLang="zh-CN" sz="3200" dirty="0"/>
            </a:br>
            <a:endParaRPr lang="zh-CN" altLang="en-US" sz="32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8834B765-B54E-43FB-A6A8-3FD3BE609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106" y="2824253"/>
            <a:ext cx="5574366" cy="3398127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拉上几个人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分工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en-US" dirty="0">
                <a:solidFill>
                  <a:schemeClr val="bg1"/>
                </a:solidFill>
              </a:rPr>
              <a:t>每人分几个模块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计划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跟踪进度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加班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交付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内容占位符 7">
            <a:extLst>
              <a:ext uri="{FF2B5EF4-FFF2-40B4-BE49-F238E27FC236}">
                <a16:creationId xmlns:a16="http://schemas.microsoft.com/office/drawing/2014/main" id="{AB2B9788-E3EA-4943-B728-2D18CDF9EC5E}"/>
              </a:ext>
            </a:extLst>
          </p:cNvPr>
          <p:cNvSpPr txBox="1">
            <a:spLocks/>
          </p:cNvSpPr>
          <p:nvPr/>
        </p:nvSpPr>
        <p:spPr>
          <a:xfrm>
            <a:off x="5368106" y="362131"/>
            <a:ext cx="5574366" cy="2221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突然任命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某某某日上线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实现一堆功能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06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D9ACDE-8038-488C-AB0C-5FD1A373C8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6C2449-5F66-4753-AAA3-4AD81E57A0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9F7DAB-18F4-436A-A0D8-61013DEB6F50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1424" y="1"/>
            <a:ext cx="3258129" cy="6858000"/>
            <a:chOff x="141424" y="1"/>
            <a:chExt cx="3258129" cy="6858000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AA2A446D-5444-4251-A0C1-1C33937BB10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1"/>
              <a:ext cx="858884" cy="2780957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013EF53-9F7F-40D2-9E88-917DCF6430B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1"/>
              <a:ext cx="835810" cy="2671495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210AE139-2815-4F3D-A56C-2608DB3D770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5830"/>
              <a:ext cx="2175413" cy="4272171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7C52B438-B53F-4BCB-A9A8-183E8815AA8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9078" y="2695292"/>
              <a:ext cx="2690743" cy="4162709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57375C8-AF41-41DF-8F04-72401D4B9EB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2690532"/>
              <a:ext cx="2904320" cy="4167469"/>
            </a:xfrm>
            <a:custGeom>
              <a:avLst/>
              <a:gdLst>
                <a:gd name="connsiteX0" fmla="*/ 0 w 2904320"/>
                <a:gd name="connsiteY0" fmla="*/ 0 h 4167469"/>
                <a:gd name="connsiteX1" fmla="*/ 288431 w 2904320"/>
                <a:gd name="connsiteY1" fmla="*/ 90425 h 4167469"/>
                <a:gd name="connsiteX2" fmla="*/ 2904320 w 2904320"/>
                <a:gd name="connsiteY2" fmla="*/ 3220465 h 4167469"/>
                <a:gd name="connsiteX3" fmla="*/ 2904320 w 2904320"/>
                <a:gd name="connsiteY3" fmla="*/ 4167469 h 4167469"/>
                <a:gd name="connsiteX4" fmla="*/ 2694589 w 2904320"/>
                <a:gd name="connsiteY4" fmla="*/ 4167469 h 4167469"/>
                <a:gd name="connsiteX5" fmla="*/ 3846 w 2904320"/>
                <a:gd name="connsiteY5" fmla="*/ 4759 h 41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4320" h="4167469">
                  <a:moveTo>
                    <a:pt x="0" y="0"/>
                  </a:moveTo>
                  <a:lnTo>
                    <a:pt x="288431" y="90425"/>
                  </a:lnTo>
                  <a:lnTo>
                    <a:pt x="2904320" y="3220465"/>
                  </a:lnTo>
                  <a:lnTo>
                    <a:pt x="2904320" y="4167469"/>
                  </a:lnTo>
                  <a:lnTo>
                    <a:pt x="2694589" y="4167469"/>
                  </a:lnTo>
                  <a:lnTo>
                    <a:pt x="3846" y="475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1B37C1D7-483C-4CD7-85AB-F4EEA6E5736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1071"/>
              <a:ext cx="2894568" cy="427693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pic>
        <p:nvPicPr>
          <p:cNvPr id="27" name="图片 26" descr="http://img7x5.ddimg.cn/imgother10/68/20/1900720175_00007_epub.jpg">
            <a:extLst>
              <a:ext uri="{FF2B5EF4-FFF2-40B4-BE49-F238E27FC236}">
                <a16:creationId xmlns:a16="http://schemas.microsoft.com/office/drawing/2014/main" id="{C9E571AC-6B16-44B2-8E25-CAC5321E6D2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825" y="629818"/>
            <a:ext cx="6235352" cy="4756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699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83AA123-2F3C-4C93-B4FE-9171C8C8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zh-CN" altLang="zh-CN" sz="3200">
                <a:solidFill>
                  <a:schemeClr val="tx2"/>
                </a:solidFill>
              </a:rPr>
              <a:t>几种主流模式</a:t>
            </a:r>
            <a:endParaRPr lang="zh-CN" altLang="en-US" sz="3200">
              <a:solidFill>
                <a:schemeClr val="tx2"/>
              </a:solidFill>
            </a:endParaRPr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307599B8-062F-4354-A1C5-87DA4C9DD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r>
              <a:rPr lang="zh-CN" altLang="en-US" sz="2000"/>
              <a:t>边做边改</a:t>
            </a:r>
            <a:endParaRPr lang="en-US" altLang="zh-CN" sz="2000"/>
          </a:p>
          <a:p>
            <a:r>
              <a:rPr lang="zh-CN" altLang="en-US" sz="2000"/>
              <a:t>瀑布</a:t>
            </a:r>
            <a:endParaRPr lang="en-US" altLang="zh-CN" sz="2000"/>
          </a:p>
          <a:p>
            <a:r>
              <a:rPr lang="zh-CN" altLang="en-US" sz="2000"/>
              <a:t>迭代</a:t>
            </a:r>
            <a:r>
              <a:rPr lang="en-US" altLang="zh-CN" sz="2000"/>
              <a:t>/</a:t>
            </a:r>
            <a:r>
              <a:rPr lang="zh-CN" altLang="en-US" sz="2000"/>
              <a:t>螺旋</a:t>
            </a:r>
            <a:endParaRPr lang="en-US" altLang="zh-CN" sz="2000"/>
          </a:p>
          <a:p>
            <a:r>
              <a:rPr lang="zh-CN" altLang="en-US" sz="2000"/>
              <a:t>敏捷</a:t>
            </a:r>
          </a:p>
        </p:txBody>
      </p:sp>
    </p:spTree>
    <p:extLst>
      <p:ext uri="{BB962C8B-B14F-4D97-AF65-F5344CB8AC3E}">
        <p14:creationId xmlns:p14="http://schemas.microsoft.com/office/powerpoint/2010/main" val="120414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49FA8-6AD3-4800-8FCF-D9137435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边做边改</a:t>
            </a:r>
          </a:p>
        </p:txBody>
      </p:sp>
      <p:pic>
        <p:nvPicPr>
          <p:cNvPr id="4" name="内容占位符 3" descr="http://img.blog.csdn.net/20161109231852781">
            <a:extLst>
              <a:ext uri="{FF2B5EF4-FFF2-40B4-BE49-F238E27FC236}">
                <a16:creationId xmlns:a16="http://schemas.microsoft.com/office/drawing/2014/main" id="{2A0D0A32-39BF-4391-BBED-2CBD85D1868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501" y="2219694"/>
            <a:ext cx="4274997" cy="3697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72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7206C-B270-428B-A880-24243F95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zh-CN" altLang="zh-CN" dirty="0"/>
              <a:t>瀑布</a:t>
            </a:r>
            <a:endParaRPr lang="zh-CN" altLang="en-US" dirty="0"/>
          </a:p>
        </p:txBody>
      </p:sp>
      <p:pic>
        <p:nvPicPr>
          <p:cNvPr id="21" name="内容占位符 20" descr="“瀑布模型”的图片搜索结果">
            <a:extLst>
              <a:ext uri="{FF2B5EF4-FFF2-40B4-BE49-F238E27FC236}">
                <a16:creationId xmlns:a16="http://schemas.microsoft.com/office/drawing/2014/main" id="{D6190061-5D2F-413C-A3E2-CDD1FF9AD60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243" y="2130345"/>
            <a:ext cx="4964908" cy="3740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123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99F3A-99E6-43FF-AA9B-ED03A4D3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迭代</a:t>
            </a:r>
            <a:r>
              <a:rPr lang="en-US" altLang="zh-CN" dirty="0"/>
              <a:t>/</a:t>
            </a:r>
            <a:r>
              <a:rPr lang="zh-CN" altLang="zh-CN" dirty="0"/>
              <a:t>螺旋</a:t>
            </a:r>
            <a:endParaRPr lang="zh-CN" altLang="en-US" dirty="0"/>
          </a:p>
        </p:txBody>
      </p:sp>
      <p:pic>
        <p:nvPicPr>
          <p:cNvPr id="4" name="内容占位符 3" descr="“迭代式开发”的图片搜索结果">
            <a:extLst>
              <a:ext uri="{FF2B5EF4-FFF2-40B4-BE49-F238E27FC236}">
                <a16:creationId xmlns:a16="http://schemas.microsoft.com/office/drawing/2014/main" id="{C0606ED6-EFF1-4DD5-BB39-1A16519E9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829" y="2254854"/>
            <a:ext cx="7305675" cy="3219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12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BEDAE-1D92-48A2-B9BE-22EC01EE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8CE761-A785-44F8-9DCA-7B4B5DDC1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3200" dirty="0"/>
              <a:t>这是现在互联网公司实施互联网项目产品时普遍采用的快速迭代</a:t>
            </a:r>
            <a:r>
              <a:rPr lang="en-US" altLang="zh-CN" sz="3200" dirty="0"/>
              <a:t>(1-2</a:t>
            </a:r>
            <a:r>
              <a:rPr lang="zh-CN" altLang="zh-CN" sz="3200" dirty="0"/>
              <a:t>周</a:t>
            </a:r>
            <a:r>
              <a:rPr lang="en-US" altLang="zh-CN" sz="3200" dirty="0"/>
              <a:t>)</a:t>
            </a:r>
            <a:r>
              <a:rPr lang="zh-CN" altLang="zh-CN" sz="3200" dirty="0"/>
              <a:t>开发模式的一种项目管理模式</a:t>
            </a:r>
            <a:r>
              <a:rPr lang="en-US" altLang="zh-CN" sz="3200" dirty="0"/>
              <a:t>,</a:t>
            </a:r>
            <a:r>
              <a:rPr lang="zh-CN" altLang="zh-CN" sz="3200" dirty="0"/>
              <a:t>强调面对面沟通</a:t>
            </a:r>
            <a:r>
              <a:rPr lang="en-US" altLang="zh-CN" sz="3200" dirty="0"/>
              <a:t>,</a:t>
            </a:r>
            <a:r>
              <a:rPr lang="zh-CN" altLang="zh-CN" sz="3200" dirty="0"/>
              <a:t>快速变化</a:t>
            </a:r>
            <a:r>
              <a:rPr lang="en-US" altLang="zh-CN" sz="3200" dirty="0"/>
              <a:t>,</a:t>
            </a:r>
            <a:r>
              <a:rPr lang="zh-CN" altLang="zh-CN" sz="3200" dirty="0"/>
              <a:t>频繁交付</a:t>
            </a:r>
            <a:r>
              <a:rPr lang="en-US" altLang="zh-CN" sz="3200" dirty="0"/>
              <a:t>,</a:t>
            </a:r>
            <a:r>
              <a:rPr lang="zh-CN" altLang="zh-CN" sz="3200" dirty="0"/>
              <a:t>小型团队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645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7532-8569-4376-B12A-12520ABE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EA7BE-43A0-43DC-9436-F03B69262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66899"/>
            <a:ext cx="10018713" cy="4188213"/>
          </a:xfrm>
        </p:spPr>
        <p:txBody>
          <a:bodyPr>
            <a:normAutofit/>
          </a:bodyPr>
          <a:lstStyle/>
          <a:p>
            <a:r>
              <a:rPr lang="zh-CN" altLang="zh-CN" dirty="0"/>
              <a:t>单一需求渠道</a:t>
            </a:r>
            <a:endParaRPr lang="en-US" altLang="zh-CN" dirty="0"/>
          </a:p>
          <a:p>
            <a:r>
              <a:rPr lang="zh-CN" altLang="zh-CN" dirty="0"/>
              <a:t>凡需求必有响应</a:t>
            </a:r>
            <a:endParaRPr lang="en-US" altLang="zh-CN" dirty="0"/>
          </a:p>
          <a:p>
            <a:r>
              <a:rPr lang="zh-CN" altLang="en-US" dirty="0"/>
              <a:t>确定</a:t>
            </a:r>
            <a:r>
              <a:rPr lang="zh-CN" altLang="zh-CN" dirty="0"/>
              <a:t>需求边界</a:t>
            </a:r>
            <a:endParaRPr lang="en-US" altLang="zh-CN" dirty="0"/>
          </a:p>
          <a:p>
            <a:r>
              <a:rPr lang="zh-CN" altLang="zh-CN" dirty="0"/>
              <a:t>分清需求与实现方案</a:t>
            </a:r>
            <a:endParaRPr lang="en-US" altLang="zh-CN" dirty="0"/>
          </a:p>
          <a:p>
            <a:r>
              <a:rPr lang="zh-CN" altLang="zh-CN" dirty="0"/>
              <a:t>伪需求</a:t>
            </a:r>
            <a:r>
              <a:rPr lang="en-US" altLang="zh-CN" dirty="0"/>
              <a:t>/</a:t>
            </a:r>
            <a:r>
              <a:rPr lang="zh-CN" altLang="zh-CN" dirty="0"/>
              <a:t>真需求</a:t>
            </a:r>
            <a:r>
              <a:rPr lang="en-US" altLang="zh-CN" dirty="0"/>
              <a:t>/</a:t>
            </a:r>
            <a:r>
              <a:rPr lang="zh-CN" altLang="zh-CN" dirty="0"/>
              <a:t>隐性需求</a:t>
            </a:r>
            <a:r>
              <a:rPr lang="en-US" altLang="zh-CN" dirty="0"/>
              <a:t>/</a:t>
            </a:r>
            <a:r>
              <a:rPr lang="zh-CN" altLang="zh-CN" dirty="0"/>
              <a:t>强需求</a:t>
            </a:r>
            <a:r>
              <a:rPr lang="en-US" altLang="zh-CN" dirty="0"/>
              <a:t>/</a:t>
            </a:r>
            <a:r>
              <a:rPr lang="zh-CN" altLang="zh-CN" dirty="0"/>
              <a:t>弱需求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6399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AE693-EB4A-4F26-BD83-025D9B5EF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2" y="550130"/>
            <a:ext cx="10018713" cy="76200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需求分析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5881C70-14F8-4D27-A24E-89C4BE126198}"/>
              </a:ext>
            </a:extLst>
          </p:cNvPr>
          <p:cNvSpPr txBox="1">
            <a:spLocks/>
          </p:cNvSpPr>
          <p:nvPr/>
        </p:nvSpPr>
        <p:spPr>
          <a:xfrm>
            <a:off x="1484301" y="1213623"/>
            <a:ext cx="10018713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人</a:t>
            </a:r>
            <a:r>
              <a:rPr lang="en-US" altLang="zh-CN" dirty="0"/>
              <a:t>,</a:t>
            </a:r>
            <a:r>
              <a:rPr lang="zh-CN" altLang="zh-CN" dirty="0"/>
              <a:t>场景</a:t>
            </a:r>
            <a:r>
              <a:rPr lang="en-US" altLang="zh-CN" dirty="0"/>
              <a:t>,</a:t>
            </a:r>
            <a:r>
              <a:rPr lang="zh-CN" altLang="zh-CN" dirty="0"/>
              <a:t>问题</a:t>
            </a:r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0271B16-A68C-4C47-AC6E-D4E4E91827F1}"/>
              </a:ext>
            </a:extLst>
          </p:cNvPr>
          <p:cNvSpPr txBox="1">
            <a:spLocks/>
          </p:cNvSpPr>
          <p:nvPr/>
        </p:nvSpPr>
        <p:spPr>
          <a:xfrm>
            <a:off x="1484300" y="1936595"/>
            <a:ext cx="10018713" cy="178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把有可能</a:t>
            </a:r>
            <a:r>
              <a:rPr lang="zh-CN" altLang="en-US" dirty="0"/>
              <a:t>参与的</a:t>
            </a:r>
            <a:r>
              <a:rPr lang="zh-CN" altLang="zh-CN" dirty="0"/>
              <a:t>用户尽量列举出来，先不要考虑是否合理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用户在什么情况下会使用产品，每一类用户分别往下分解，用故事的形式把情况描述清楚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用户在上述场景下可能会遇到的问题</a:t>
            </a:r>
            <a:endParaRPr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5A0F036C-7F0A-4945-91E2-B9E6BDD15868}"/>
              </a:ext>
            </a:extLst>
          </p:cNvPr>
          <p:cNvSpPr txBox="1">
            <a:spLocks/>
          </p:cNvSpPr>
          <p:nvPr/>
        </p:nvSpPr>
        <p:spPr>
          <a:xfrm>
            <a:off x="1484299" y="3721717"/>
            <a:ext cx="10018713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对问题进行总结归纳，不同用户、不同的场景，可能会遇到相同的问题，也可能有不同的问题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B0B4F35-48BE-4B94-8C13-F0FABCB89F5B}"/>
              </a:ext>
            </a:extLst>
          </p:cNvPr>
          <p:cNvSpPr txBox="1">
            <a:spLocks/>
          </p:cNvSpPr>
          <p:nvPr/>
        </p:nvSpPr>
        <p:spPr>
          <a:xfrm>
            <a:off x="1484299" y="4483718"/>
            <a:ext cx="10018713" cy="2073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最后才是真正开始分析，</a:t>
            </a:r>
            <a:r>
              <a:rPr lang="zh-CN" altLang="en-US" dirty="0"/>
              <a:t>从</a:t>
            </a:r>
            <a:r>
              <a:rPr lang="zh-CN" altLang="zh-CN" dirty="0"/>
              <a:t>需求的广度、频度、价值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解决大量用户问题：提升稳定性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解决高频问题：提升体验度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zh-CN" dirty="0"/>
              <a:t>解决小用户数量：提升口碑性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77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4B90C-DEA2-438F-97E4-FC131967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工作量估算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7AE706-EA58-473F-A527-BE41701FE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159619"/>
            <a:ext cx="10018713" cy="4012581"/>
          </a:xfrm>
        </p:spPr>
        <p:txBody>
          <a:bodyPr>
            <a:normAutofit/>
          </a:bodyPr>
          <a:lstStyle/>
          <a:p>
            <a:r>
              <a:rPr lang="zh-CN" altLang="zh-CN" dirty="0"/>
              <a:t>对内</a:t>
            </a:r>
            <a:r>
              <a:rPr lang="en-US" altLang="zh-CN" dirty="0"/>
              <a:t>:</a:t>
            </a:r>
            <a:r>
              <a:rPr lang="zh-CN" altLang="en-US" dirty="0"/>
              <a:t>团队</a:t>
            </a:r>
            <a:r>
              <a:rPr lang="zh-CN" altLang="zh-CN" dirty="0"/>
              <a:t>成员在估算过程中了解需求</a:t>
            </a:r>
            <a:r>
              <a:rPr lang="en-US" altLang="zh-CN" dirty="0"/>
              <a:t>,</a:t>
            </a:r>
            <a:r>
              <a:rPr lang="zh-CN" altLang="zh-CN" dirty="0"/>
              <a:t>了解如何相互协作</a:t>
            </a:r>
            <a:r>
              <a:rPr lang="en-US" altLang="zh-CN" dirty="0"/>
              <a:t>(</a:t>
            </a:r>
            <a:r>
              <a:rPr lang="zh-CN" altLang="zh-CN" dirty="0"/>
              <a:t>在哪个时间点需要拿出那些接口</a:t>
            </a:r>
            <a:r>
              <a:rPr lang="en-US" altLang="zh-CN" dirty="0"/>
              <a:t>/</a:t>
            </a:r>
            <a:r>
              <a:rPr lang="zh-CN" altLang="zh-CN" dirty="0"/>
              <a:t>素材</a:t>
            </a:r>
            <a:r>
              <a:rPr lang="en-US" altLang="zh-CN" dirty="0"/>
              <a:t>),</a:t>
            </a:r>
            <a:r>
              <a:rPr lang="zh-CN" altLang="zh-CN" dirty="0"/>
              <a:t>管理层需要依据估算做某些决策</a:t>
            </a:r>
            <a:endParaRPr lang="en-US" altLang="zh-CN" dirty="0"/>
          </a:p>
          <a:p>
            <a:r>
              <a:rPr lang="zh-CN" altLang="zh-CN" dirty="0"/>
              <a:t>对外</a:t>
            </a:r>
            <a:r>
              <a:rPr lang="en-US" altLang="zh-CN" dirty="0"/>
              <a:t>:</a:t>
            </a:r>
            <a:r>
              <a:rPr lang="zh-CN" altLang="en-US" dirty="0"/>
              <a:t>客</a:t>
            </a:r>
            <a:r>
              <a:rPr lang="zh-CN" altLang="zh-CN" dirty="0"/>
              <a:t>户需要一个预期</a:t>
            </a:r>
            <a:r>
              <a:rPr lang="en-US" altLang="zh-CN" dirty="0"/>
              <a:t>/</a:t>
            </a:r>
            <a:r>
              <a:rPr lang="zh-CN" altLang="zh-CN" dirty="0"/>
              <a:t>承诺</a:t>
            </a:r>
            <a:r>
              <a:rPr lang="en-US" altLang="zh-CN" dirty="0"/>
              <a:t>(</a:t>
            </a:r>
            <a:r>
              <a:rPr lang="zh-CN" altLang="zh-CN" dirty="0"/>
              <a:t>这个功能</a:t>
            </a:r>
            <a:r>
              <a:rPr lang="en-US" altLang="zh-CN" dirty="0"/>
              <a:t>XX</a:t>
            </a:r>
            <a:r>
              <a:rPr lang="zh-CN" altLang="zh-CN" dirty="0"/>
              <a:t>日能上线</a:t>
            </a:r>
            <a:r>
              <a:rPr lang="en-US" altLang="zh-CN" dirty="0"/>
              <a:t>)</a:t>
            </a:r>
          </a:p>
          <a:p>
            <a:r>
              <a:rPr lang="zh-CN" altLang="zh-CN" dirty="0"/>
              <a:t>通过</a:t>
            </a:r>
            <a:r>
              <a:rPr lang="en-US" altLang="zh-CN" dirty="0"/>
              <a:t>“</a:t>
            </a:r>
            <a:r>
              <a:rPr lang="zh-CN" altLang="zh-CN" dirty="0"/>
              <a:t>精确</a:t>
            </a:r>
            <a:r>
              <a:rPr lang="en-US" altLang="zh-CN" dirty="0"/>
              <a:t>”</a:t>
            </a:r>
            <a:r>
              <a:rPr lang="zh-CN" altLang="zh-CN" dirty="0"/>
              <a:t>的估算</a:t>
            </a:r>
            <a:r>
              <a:rPr lang="en-US" altLang="zh-CN" dirty="0"/>
              <a:t>,</a:t>
            </a:r>
            <a:r>
              <a:rPr lang="zh-CN" altLang="zh-CN" dirty="0"/>
              <a:t>我们得到了一系列里程碑的目标日期</a:t>
            </a:r>
            <a:r>
              <a:rPr lang="en-US" altLang="zh-CN" dirty="0"/>
              <a:t>,</a:t>
            </a:r>
            <a:r>
              <a:rPr lang="zh-CN" altLang="zh-CN" dirty="0"/>
              <a:t>这是一个最早交付日期的预判</a:t>
            </a:r>
            <a:r>
              <a:rPr lang="en-US" altLang="zh-CN" dirty="0"/>
              <a:t>,</a:t>
            </a:r>
            <a:r>
              <a:rPr lang="zh-CN" altLang="en-US" dirty="0">
                <a:solidFill>
                  <a:srgbClr val="FF0000"/>
                </a:solidFill>
              </a:rPr>
              <a:t>不要让领导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客户知道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zh-CN" dirty="0"/>
              <a:t>真正的里程碑目标</a:t>
            </a:r>
            <a:r>
              <a:rPr lang="en-US" altLang="zh-CN" dirty="0"/>
              <a:t>,</a:t>
            </a:r>
            <a:r>
              <a:rPr lang="zh-CN" altLang="zh-CN" dirty="0"/>
              <a:t>应该是一张风险图</a:t>
            </a:r>
            <a:r>
              <a:rPr lang="en-US" altLang="zh-CN" dirty="0"/>
              <a:t>,</a:t>
            </a:r>
            <a:r>
              <a:rPr lang="zh-CN" altLang="zh-CN" dirty="0"/>
              <a:t>包括了最早交付日期</a:t>
            </a:r>
            <a:r>
              <a:rPr lang="en-US" altLang="zh-CN" dirty="0"/>
              <a:t>,</a:t>
            </a:r>
            <a:r>
              <a:rPr lang="zh-CN" altLang="zh-CN" dirty="0"/>
              <a:t>最可能交付日期以及最晚交付日期</a:t>
            </a:r>
            <a:r>
              <a:rPr lang="en-US" altLang="zh-CN" dirty="0"/>
              <a:t>. </a:t>
            </a:r>
            <a:r>
              <a:rPr lang="zh-CN" altLang="zh-CN" dirty="0"/>
              <a:t>最可能交付日期应该成为我们真正的计划</a:t>
            </a:r>
            <a:r>
              <a:rPr lang="en-US" altLang="zh-CN" dirty="0"/>
              <a:t>;</a:t>
            </a:r>
            <a:r>
              <a:rPr lang="zh-CN" altLang="zh-CN" dirty="0"/>
              <a:t>最早交付日期</a:t>
            </a:r>
            <a:r>
              <a:rPr lang="en-US" altLang="zh-CN" dirty="0"/>
              <a:t>,</a:t>
            </a:r>
            <a:r>
              <a:rPr lang="zh-CN" altLang="zh-CN" dirty="0"/>
              <a:t>作为团队奋斗目标</a:t>
            </a:r>
            <a:r>
              <a:rPr lang="en-US" altLang="zh-CN" dirty="0"/>
              <a:t>,</a:t>
            </a:r>
            <a:r>
              <a:rPr lang="zh-CN" altLang="zh-CN" dirty="0"/>
              <a:t>用来激励团队提高工作效率</a:t>
            </a:r>
            <a:r>
              <a:rPr lang="en-US" altLang="zh-CN" dirty="0"/>
              <a:t>;</a:t>
            </a:r>
            <a:r>
              <a:rPr lang="zh-CN" altLang="zh-CN" dirty="0"/>
              <a:t>向领导</a:t>
            </a:r>
            <a:r>
              <a:rPr lang="en-US" altLang="zh-CN" dirty="0"/>
              <a:t>/</a:t>
            </a:r>
            <a:r>
              <a:rPr lang="zh-CN" altLang="zh-CN" dirty="0"/>
              <a:t>客户做出承诺时</a:t>
            </a:r>
            <a:r>
              <a:rPr lang="zh-CN" altLang="en-US" dirty="0"/>
              <a:t>使用最可能交付日期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25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C3CB3-4DC2-4ACE-8FCB-059BB8DE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估算算法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63380-D5BE-4CB8-8945-5FA43582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866899"/>
            <a:ext cx="10018713" cy="4712321"/>
          </a:xfrm>
        </p:spPr>
        <p:txBody>
          <a:bodyPr>
            <a:normAutofit/>
          </a:bodyPr>
          <a:lstStyle/>
          <a:p>
            <a:r>
              <a:rPr lang="zh-CN" altLang="zh-CN" dirty="0"/>
              <a:t>开发工作量 ＝ 估算工作量</a:t>
            </a:r>
            <a:r>
              <a:rPr lang="en-US" altLang="zh-CN" dirty="0"/>
              <a:t>× </a:t>
            </a:r>
            <a:r>
              <a:rPr lang="zh-CN" altLang="zh-CN" dirty="0"/>
              <a:t>风险系数</a:t>
            </a:r>
            <a:r>
              <a:rPr lang="en-US" altLang="zh-CN" dirty="0"/>
              <a:t> × </a:t>
            </a:r>
            <a:r>
              <a:rPr lang="zh-CN" altLang="zh-CN" dirty="0"/>
              <a:t>复用系数 </a:t>
            </a:r>
            <a:r>
              <a:rPr lang="en-US" altLang="zh-CN" dirty="0"/>
              <a:t>× </a:t>
            </a:r>
            <a:r>
              <a:rPr lang="zh-CN" altLang="zh-CN" dirty="0"/>
              <a:t>交流成本</a:t>
            </a:r>
            <a:r>
              <a:rPr lang="en-US" altLang="zh-CN" dirty="0"/>
              <a:t>(</a:t>
            </a:r>
            <a:r>
              <a:rPr lang="zh-CN" altLang="zh-CN" dirty="0"/>
              <a:t>可选</a:t>
            </a:r>
            <a:r>
              <a:rPr lang="en-US" altLang="zh-CN" dirty="0"/>
              <a:t>) × </a:t>
            </a:r>
            <a:r>
              <a:rPr lang="zh-CN" altLang="zh-CN" dirty="0"/>
              <a:t>难度系数</a:t>
            </a:r>
            <a:r>
              <a:rPr lang="en-US" altLang="zh-CN" dirty="0"/>
              <a:t>(</a:t>
            </a:r>
            <a:r>
              <a:rPr lang="zh-CN" altLang="zh-CN" dirty="0"/>
              <a:t>可选</a:t>
            </a:r>
            <a:r>
              <a:rPr lang="en-US" altLang="zh-CN" dirty="0"/>
              <a:t>)</a:t>
            </a:r>
          </a:p>
          <a:p>
            <a:r>
              <a:rPr lang="zh-CN" altLang="zh-CN" dirty="0"/>
              <a:t>风险系数</a:t>
            </a:r>
            <a:r>
              <a:rPr lang="en-US" altLang="zh-CN" dirty="0"/>
              <a:t>:</a:t>
            </a:r>
            <a:r>
              <a:rPr lang="zh-CN" altLang="zh-CN" dirty="0"/>
              <a:t>可能由于需求变更对设计和开发带来的工作量</a:t>
            </a:r>
            <a:r>
              <a:rPr lang="en-US" altLang="zh-CN" dirty="0"/>
              <a:t> l ≤ </a:t>
            </a:r>
            <a:r>
              <a:rPr lang="zh-CN" altLang="zh-CN" dirty="0"/>
              <a:t>风险系数</a:t>
            </a:r>
            <a:r>
              <a:rPr lang="en-US" altLang="zh-CN" dirty="0"/>
              <a:t> ≤ 1.5</a:t>
            </a:r>
          </a:p>
          <a:p>
            <a:r>
              <a:rPr lang="zh-CN" altLang="zh-CN" dirty="0"/>
              <a:t>复用系数</a:t>
            </a:r>
            <a:r>
              <a:rPr lang="en-US" altLang="zh-CN" dirty="0"/>
              <a:t>:</a:t>
            </a:r>
            <a:r>
              <a:rPr lang="zh-CN" altLang="zh-CN" dirty="0"/>
              <a:t>指能够复用公司</a:t>
            </a:r>
            <a:r>
              <a:rPr lang="en-US" altLang="zh-CN" dirty="0"/>
              <a:t>/</a:t>
            </a:r>
            <a:r>
              <a:rPr lang="zh-CN" altLang="zh-CN" dirty="0"/>
              <a:t>项目内相似经验</a:t>
            </a:r>
            <a:r>
              <a:rPr lang="en-US" altLang="zh-CN" dirty="0"/>
              <a:t>/</a:t>
            </a:r>
            <a:r>
              <a:rPr lang="zh-CN" altLang="zh-CN" dirty="0"/>
              <a:t>模块</a:t>
            </a:r>
            <a:r>
              <a:rPr lang="en-US" altLang="zh-CN" dirty="0"/>
              <a:t>,</a:t>
            </a:r>
            <a:r>
              <a:rPr lang="zh-CN" altLang="zh-CN" dirty="0"/>
              <a:t>减少工作量</a:t>
            </a:r>
            <a:r>
              <a:rPr lang="en-US" altLang="zh-CN" dirty="0"/>
              <a:t> 0.25 ≤ </a:t>
            </a:r>
            <a:r>
              <a:rPr lang="zh-CN" altLang="zh-CN" dirty="0"/>
              <a:t>复用系数</a:t>
            </a:r>
            <a:r>
              <a:rPr lang="en-US" altLang="zh-CN" dirty="0"/>
              <a:t> ≤ 0.9</a:t>
            </a:r>
          </a:p>
          <a:p>
            <a:r>
              <a:rPr lang="zh-CN" altLang="zh-CN" dirty="0"/>
              <a:t>难度系数</a:t>
            </a:r>
            <a:r>
              <a:rPr lang="en-US" altLang="zh-CN" dirty="0"/>
              <a:t>:</a:t>
            </a:r>
            <a:r>
              <a:rPr lang="zh-CN" altLang="zh-CN" dirty="0"/>
              <a:t>一般不参与计算</a:t>
            </a:r>
            <a:r>
              <a:rPr lang="en-US" altLang="zh-CN" dirty="0"/>
              <a:t>,</a:t>
            </a:r>
            <a:r>
              <a:rPr lang="zh-CN" altLang="zh-CN" dirty="0"/>
              <a:t>多数用于标记任务需要的开发人员水平</a:t>
            </a:r>
            <a:endParaRPr lang="en-US" altLang="zh-CN" dirty="0"/>
          </a:p>
          <a:p>
            <a:r>
              <a:rPr lang="zh-CN" altLang="zh-CN" dirty="0"/>
              <a:t>交流成本</a:t>
            </a:r>
            <a:r>
              <a:rPr lang="en-US" altLang="zh-CN" dirty="0"/>
              <a:t>:</a:t>
            </a:r>
            <a:r>
              <a:rPr lang="zh-CN" altLang="zh-CN" dirty="0"/>
              <a:t>项目参与人员越多越高</a:t>
            </a:r>
            <a:r>
              <a:rPr lang="en-US" altLang="zh-CN" dirty="0"/>
              <a:t>,</a:t>
            </a:r>
            <a:r>
              <a:rPr lang="zh-CN" altLang="zh-CN" dirty="0"/>
              <a:t>新人越多越高</a:t>
            </a:r>
            <a:r>
              <a:rPr lang="en-US" altLang="zh-CN" dirty="0"/>
              <a:t>,</a:t>
            </a:r>
            <a:r>
              <a:rPr lang="zh-CN" altLang="zh-CN" dirty="0"/>
              <a:t>人员距离越远成本越高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55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B01FB-76DB-4325-BEEC-DE1CA35F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估算方式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1D8EA9-14AD-454D-85B5-D9180399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20951"/>
            <a:ext cx="10018713" cy="3332355"/>
          </a:xfrm>
        </p:spPr>
        <p:txBody>
          <a:bodyPr>
            <a:normAutofit/>
          </a:bodyPr>
          <a:lstStyle/>
          <a:p>
            <a:r>
              <a:rPr lang="zh-CN" altLang="zh-CN" dirty="0"/>
              <a:t>自下而上</a:t>
            </a:r>
            <a:endParaRPr lang="en-US" altLang="zh-CN" dirty="0"/>
          </a:p>
          <a:p>
            <a:r>
              <a:rPr lang="zh-CN" altLang="zh-CN" dirty="0"/>
              <a:t>自上而下</a:t>
            </a:r>
            <a:endParaRPr lang="en-US" altLang="zh-CN" dirty="0"/>
          </a:p>
          <a:p>
            <a:r>
              <a:rPr lang="zh-CN" altLang="zh-CN" dirty="0"/>
              <a:t>扑克</a:t>
            </a:r>
            <a:r>
              <a:rPr lang="zh-CN" altLang="en-US" dirty="0"/>
              <a:t>估算</a:t>
            </a:r>
          </a:p>
        </p:txBody>
      </p:sp>
    </p:spTree>
    <p:extLst>
      <p:ext uri="{BB962C8B-B14F-4D97-AF65-F5344CB8AC3E}">
        <p14:creationId xmlns:p14="http://schemas.microsoft.com/office/powerpoint/2010/main" val="663393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C9061-A3AD-42B9-AF1B-88AA1DD5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自下而上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A378D-D03F-4BCB-8E94-5E5CC8FD3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每个开发人员估算自己任务的时间</a:t>
            </a:r>
            <a:r>
              <a:rPr lang="en-US" altLang="zh-CN" dirty="0"/>
              <a:t>,</a:t>
            </a:r>
            <a:r>
              <a:rPr lang="zh-CN" altLang="zh-CN" dirty="0"/>
              <a:t>然后汇总排计划</a:t>
            </a:r>
            <a:endParaRPr lang="en-US" altLang="zh-CN" dirty="0"/>
          </a:p>
          <a:p>
            <a:r>
              <a:rPr lang="zh-CN" altLang="zh-CN" dirty="0"/>
              <a:t>缺点</a:t>
            </a:r>
            <a:r>
              <a:rPr lang="en-US" altLang="zh-CN" dirty="0"/>
              <a:t>:</a:t>
            </a:r>
            <a:r>
              <a:rPr lang="zh-CN" altLang="zh-CN" dirty="0"/>
              <a:t>需要各个任务的独立性很强</a:t>
            </a:r>
            <a:r>
              <a:rPr lang="en-US" altLang="zh-CN" dirty="0"/>
              <a:t>;</a:t>
            </a:r>
            <a:r>
              <a:rPr lang="zh-CN" altLang="zh-CN" dirty="0"/>
              <a:t>开发人员的经验丰富</a:t>
            </a:r>
            <a:endParaRPr lang="en-US" altLang="zh-CN" dirty="0"/>
          </a:p>
          <a:p>
            <a:r>
              <a:rPr lang="zh-CN" altLang="zh-CN" dirty="0"/>
              <a:t>优点</a:t>
            </a:r>
            <a:r>
              <a:rPr lang="en-US" altLang="zh-CN" dirty="0"/>
              <a:t>:</a:t>
            </a:r>
            <a:r>
              <a:rPr lang="zh-CN" altLang="zh-CN" dirty="0"/>
              <a:t>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351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D5B53-0BA3-4A28-8D54-2D44AE60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自上而下的</a:t>
            </a:r>
            <a:r>
              <a:rPr lang="en-US" altLang="zh-CN" dirty="0"/>
              <a:t>(</a:t>
            </a:r>
            <a:r>
              <a:rPr lang="zh-CN" altLang="zh-CN" dirty="0"/>
              <a:t>专家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A58180-D9CE-4F74-9002-55A355844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由</a:t>
            </a:r>
            <a:r>
              <a:rPr lang="en-US" altLang="zh-CN" dirty="0"/>
              <a:t>N</a:t>
            </a:r>
            <a:r>
              <a:rPr lang="zh-CN" altLang="zh-CN" dirty="0"/>
              <a:t>个专家给出估算值</a:t>
            </a:r>
            <a:endParaRPr lang="en-US" altLang="zh-CN" dirty="0"/>
          </a:p>
          <a:p>
            <a:r>
              <a:rPr lang="zh-CN" altLang="zh-CN" dirty="0"/>
              <a:t>缺点</a:t>
            </a:r>
            <a:r>
              <a:rPr lang="en-US" altLang="zh-CN" dirty="0"/>
              <a:t>:</a:t>
            </a:r>
            <a:r>
              <a:rPr lang="zh-CN" altLang="zh-CN" dirty="0"/>
              <a:t>你得找得到这么一个熟悉所有业务和所有项目成员的人</a:t>
            </a:r>
            <a:r>
              <a:rPr lang="en-US" altLang="zh-CN" dirty="0"/>
              <a:t>;</a:t>
            </a:r>
            <a:r>
              <a:rPr lang="zh-CN" altLang="zh-CN" dirty="0"/>
              <a:t>有个人主观干扰</a:t>
            </a:r>
          </a:p>
          <a:p>
            <a:r>
              <a:rPr lang="zh-CN" altLang="zh-CN" dirty="0"/>
              <a:t>优点</a:t>
            </a:r>
            <a:r>
              <a:rPr lang="en-US" altLang="zh-CN" dirty="0"/>
              <a:t>:</a:t>
            </a:r>
            <a:r>
              <a:rPr lang="zh-CN" altLang="zh-CN" dirty="0"/>
              <a:t>准</a:t>
            </a:r>
            <a:r>
              <a:rPr lang="en-US" altLang="zh-CN" dirty="0"/>
              <a:t>;</a:t>
            </a:r>
            <a:r>
              <a:rPr lang="zh-CN" altLang="zh-CN" dirty="0"/>
              <a:t>最快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21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6771D-B1B3-4DD8-B59C-D19EA292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扑克</a:t>
            </a:r>
            <a:r>
              <a:rPr lang="zh-CN" altLang="en-US" dirty="0"/>
              <a:t>估算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13984-42E1-4E50-8B8C-BC6829D7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042531"/>
            <a:ext cx="10018713" cy="3124201"/>
          </a:xfrm>
        </p:spPr>
        <p:txBody>
          <a:bodyPr/>
          <a:lstStyle/>
          <a:p>
            <a:r>
              <a:rPr lang="zh-CN" altLang="zh-CN" dirty="0"/>
              <a:t>先把要评估的需求进行讲解</a:t>
            </a:r>
            <a:r>
              <a:rPr lang="en-US" altLang="zh-CN" dirty="0"/>
              <a:t>,</a:t>
            </a:r>
            <a:r>
              <a:rPr lang="zh-CN" altLang="zh-CN" dirty="0"/>
              <a:t>然后所有开发人员提问</a:t>
            </a:r>
            <a:r>
              <a:rPr lang="en-US" altLang="zh-CN" dirty="0"/>
              <a:t>/</a:t>
            </a:r>
            <a:r>
              <a:rPr lang="zh-CN" altLang="zh-CN" dirty="0"/>
              <a:t>讲解</a:t>
            </a:r>
            <a:r>
              <a:rPr lang="en-US" altLang="zh-CN" dirty="0"/>
              <a:t>/</a:t>
            </a:r>
            <a:r>
              <a:rPr lang="zh-CN" altLang="zh-CN" dirty="0"/>
              <a:t>答疑后</a:t>
            </a:r>
            <a:r>
              <a:rPr lang="en-US" altLang="zh-CN" dirty="0"/>
              <a:t>,</a:t>
            </a:r>
            <a:r>
              <a:rPr lang="zh-CN" altLang="zh-CN" dirty="0"/>
              <a:t>每个人给出自己对改需求的估算</a:t>
            </a:r>
            <a:r>
              <a:rPr lang="en-US" altLang="zh-CN" dirty="0"/>
              <a:t>,</a:t>
            </a:r>
            <a:r>
              <a:rPr lang="zh-CN" altLang="zh-CN" dirty="0"/>
              <a:t>如果结果相差很大就再进行一轮</a:t>
            </a:r>
            <a:endParaRPr lang="en-US" altLang="zh-CN" dirty="0"/>
          </a:p>
          <a:p>
            <a:r>
              <a:rPr lang="zh-CN" altLang="zh-CN" dirty="0"/>
              <a:t>缺点</a:t>
            </a:r>
            <a:r>
              <a:rPr lang="en-US" altLang="zh-CN" dirty="0"/>
              <a:t>:</a:t>
            </a:r>
            <a:r>
              <a:rPr lang="zh-CN" altLang="zh-CN" dirty="0"/>
              <a:t>慢</a:t>
            </a:r>
          </a:p>
          <a:p>
            <a:r>
              <a:rPr lang="zh-CN" altLang="zh-CN" dirty="0"/>
              <a:t>优点</a:t>
            </a:r>
            <a:r>
              <a:rPr lang="en-US" altLang="zh-CN" dirty="0"/>
              <a:t>:</a:t>
            </a:r>
            <a:r>
              <a:rPr lang="zh-CN" altLang="zh-CN" dirty="0"/>
              <a:t>估算过程中可以细化需求</a:t>
            </a:r>
            <a:r>
              <a:rPr lang="en-US" altLang="zh-CN" dirty="0"/>
              <a:t>/</a:t>
            </a:r>
            <a:r>
              <a:rPr lang="zh-CN" altLang="zh-CN" dirty="0"/>
              <a:t>设计</a:t>
            </a:r>
            <a:r>
              <a:rPr lang="en-US" altLang="zh-CN" dirty="0"/>
              <a:t>,</a:t>
            </a:r>
            <a:r>
              <a:rPr lang="zh-CN" altLang="zh-CN" dirty="0"/>
              <a:t>集合了所有成员的意见</a:t>
            </a:r>
            <a:r>
              <a:rPr lang="en-US" altLang="zh-CN" dirty="0"/>
              <a:t>;</a:t>
            </a:r>
            <a:r>
              <a:rPr lang="zh-CN" altLang="zh-CN" dirty="0"/>
              <a:t>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56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71B15C-BDC4-4ECC-AE66-4D0F0CC7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69795"/>
            <a:ext cx="10018713" cy="5497551"/>
          </a:xfrm>
        </p:spPr>
        <p:txBody>
          <a:bodyPr/>
          <a:lstStyle/>
          <a:p>
            <a:r>
              <a:rPr lang="zh-CN" altLang="zh-CN" dirty="0"/>
              <a:t>不管用什么估算方法</a:t>
            </a:r>
            <a:r>
              <a:rPr lang="en-US" altLang="zh-CN" dirty="0"/>
              <a:t>,</a:t>
            </a:r>
            <a:r>
              <a:rPr lang="zh-CN" altLang="zh-CN" dirty="0"/>
              <a:t>任务分的越细越准</a:t>
            </a:r>
            <a:endParaRPr lang="en-US" altLang="zh-CN" dirty="0"/>
          </a:p>
          <a:p>
            <a:r>
              <a:rPr lang="zh-CN" altLang="zh-CN" dirty="0"/>
              <a:t>估算过程中如果发现之前的估算有不合理的地方</a:t>
            </a:r>
            <a:r>
              <a:rPr lang="en-US" altLang="zh-CN" dirty="0"/>
              <a:t>,</a:t>
            </a:r>
            <a:r>
              <a:rPr lang="zh-CN" altLang="zh-CN" dirty="0"/>
              <a:t>那么就要修复之前的估算内容</a:t>
            </a:r>
            <a:endParaRPr lang="en-US" altLang="zh-CN" dirty="0"/>
          </a:p>
          <a:p>
            <a:r>
              <a:rPr lang="zh-CN" altLang="zh-CN" dirty="0"/>
              <a:t>有的团队会习惯性的过于乐观或悲观</a:t>
            </a:r>
            <a:r>
              <a:rPr lang="en-US" altLang="zh-CN" dirty="0"/>
              <a:t>,</a:t>
            </a:r>
            <a:r>
              <a:rPr lang="zh-CN" altLang="zh-CN" dirty="0"/>
              <a:t>应该采取相对应的措施</a:t>
            </a:r>
            <a:r>
              <a:rPr lang="en-US" altLang="zh-CN" dirty="0"/>
              <a:t>.</a:t>
            </a:r>
            <a:r>
              <a:rPr lang="zh-CN" altLang="zh-CN" dirty="0"/>
              <a:t>对乐观的给出更多的预留</a:t>
            </a:r>
            <a:r>
              <a:rPr lang="en-US" altLang="zh-CN" dirty="0"/>
              <a:t>,</a:t>
            </a:r>
            <a:r>
              <a:rPr lang="zh-CN" altLang="zh-CN" dirty="0"/>
              <a:t>对悲观的就压缩计划</a:t>
            </a:r>
            <a:endParaRPr lang="en-US" altLang="zh-CN" dirty="0"/>
          </a:p>
          <a:p>
            <a:r>
              <a:rPr lang="zh-CN" altLang="en-US" dirty="0"/>
              <a:t>对整个项目的估算应</a:t>
            </a:r>
            <a:r>
              <a:rPr lang="zh-CN" altLang="zh-CN" dirty="0"/>
              <a:t>包括需求</a:t>
            </a:r>
            <a:r>
              <a:rPr lang="en-US" altLang="zh-CN" dirty="0"/>
              <a:t>,</a:t>
            </a:r>
            <a:r>
              <a:rPr lang="zh-CN" altLang="zh-CN" dirty="0"/>
              <a:t>设计</a:t>
            </a:r>
            <a:r>
              <a:rPr lang="en-US" altLang="zh-CN" dirty="0"/>
              <a:t>,</a:t>
            </a:r>
            <a:r>
              <a:rPr lang="zh-CN" altLang="zh-CN" dirty="0"/>
              <a:t>开发</a:t>
            </a:r>
            <a:r>
              <a:rPr lang="en-US" altLang="zh-CN" dirty="0"/>
              <a:t>,</a:t>
            </a:r>
            <a:r>
              <a:rPr lang="zh-CN" altLang="zh-CN" dirty="0"/>
              <a:t>测试</a:t>
            </a:r>
            <a:r>
              <a:rPr lang="en-US" altLang="zh-CN" dirty="0"/>
              <a:t>,</a:t>
            </a:r>
            <a:r>
              <a:rPr lang="zh-CN" altLang="zh-CN" dirty="0"/>
              <a:t>部署</a:t>
            </a:r>
            <a:r>
              <a:rPr lang="en-US" altLang="zh-CN" dirty="0"/>
              <a:t>,</a:t>
            </a:r>
            <a:r>
              <a:rPr lang="zh-CN" altLang="zh-CN" dirty="0"/>
              <a:t>上线</a:t>
            </a:r>
            <a:r>
              <a:rPr lang="en-US" altLang="zh-CN" dirty="0"/>
              <a:t>,</a:t>
            </a:r>
            <a:r>
              <a:rPr lang="zh-CN" altLang="zh-CN" dirty="0"/>
              <a:t>但多数情况都是在设计结束后进行开发量的估算</a:t>
            </a:r>
            <a:r>
              <a:rPr lang="en-US" altLang="zh-CN" dirty="0"/>
              <a:t>,</a:t>
            </a:r>
            <a:r>
              <a:rPr lang="zh-CN" altLang="zh-CN" dirty="0"/>
              <a:t>然后按照开发量占总工作量的</a:t>
            </a:r>
            <a:r>
              <a:rPr lang="en-US" altLang="zh-CN" dirty="0"/>
              <a:t>30%</a:t>
            </a:r>
            <a:r>
              <a:rPr lang="zh-CN" altLang="zh-CN" dirty="0"/>
              <a:t>到</a:t>
            </a:r>
            <a:r>
              <a:rPr lang="en-US" altLang="zh-CN" dirty="0"/>
              <a:t>50%</a:t>
            </a:r>
            <a:r>
              <a:rPr lang="zh-CN" altLang="zh-CN" dirty="0"/>
              <a:t>的比例反算总量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197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24DFAAE7-061D-4086-99EC-872CB305082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7570099-A243-48DD-9EAE-36F4AC095B9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5E4A74B-6514-424A-ADFA-C232FA6B901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1"/>
            <a:ext cx="858884" cy="2780957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61C5C86-C785-4B92-9F2D-133B8B8C24F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1"/>
            <a:ext cx="835810" cy="2671495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954D0BF9-002C-4D3A-A222-C166094A5D1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5830"/>
            <a:ext cx="2175413" cy="4272171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6080EB6E-D69F-43B1-91EC-75C30334258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9078" y="2695292"/>
            <a:ext cx="2690743" cy="4162709"/>
          </a:xfrm>
          <a:custGeom>
            <a:avLst/>
            <a:gdLst/>
            <a:ahLst/>
            <a:cxnLst/>
            <a:rect l="0" t="0" r="r" b="b"/>
            <a:pathLst>
              <a:path w="2099" h="2624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BA816A-EE68-4A96-BA05-73303B2F4FE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2690532"/>
            <a:ext cx="2904320" cy="4167469"/>
          </a:xfrm>
          <a:custGeom>
            <a:avLst/>
            <a:gdLst>
              <a:gd name="connsiteX0" fmla="*/ 0 w 2904320"/>
              <a:gd name="connsiteY0" fmla="*/ 0 h 4167469"/>
              <a:gd name="connsiteX1" fmla="*/ 288431 w 2904320"/>
              <a:gd name="connsiteY1" fmla="*/ 90425 h 4167469"/>
              <a:gd name="connsiteX2" fmla="*/ 2904320 w 2904320"/>
              <a:gd name="connsiteY2" fmla="*/ 3220465 h 4167469"/>
              <a:gd name="connsiteX3" fmla="*/ 2904320 w 2904320"/>
              <a:gd name="connsiteY3" fmla="*/ 4167469 h 4167469"/>
              <a:gd name="connsiteX4" fmla="*/ 2694589 w 2904320"/>
              <a:gd name="connsiteY4" fmla="*/ 4167469 h 4167469"/>
              <a:gd name="connsiteX5" fmla="*/ 3846 w 2904320"/>
              <a:gd name="connsiteY5" fmla="*/ 4759 h 4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4320" h="4167469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22A94CDB-5D63-4C75-9CB6-6C18CDF372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1071"/>
            <a:ext cx="2894568" cy="4276930"/>
          </a:xfrm>
          <a:custGeom>
            <a:avLst/>
            <a:gdLst/>
            <a:ahLst/>
            <a:cxnLst/>
            <a:rect l="0" t="0" r="r" b="b"/>
            <a:pathLst>
              <a:path w="2258" h="2696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46F44C-EDB8-45E6-8D63-45FAE83A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451" y="685800"/>
            <a:ext cx="7648573" cy="1752599"/>
          </a:xfrm>
        </p:spPr>
        <p:txBody>
          <a:bodyPr>
            <a:normAutofit/>
          </a:bodyPr>
          <a:lstStyle/>
          <a:p>
            <a:r>
              <a:rPr lang="zh-CN" altLang="zh-CN"/>
              <a:t>风险控制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872C91-CECF-479F-B151-EA3DB814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451" y="2666999"/>
            <a:ext cx="7648572" cy="312420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zh-CN" altLang="en-US" sz="2000"/>
              <a:t>软件项目经常性的延期、超过预算，甚至失败就是因为风险控制没做好</a:t>
            </a:r>
            <a:endParaRPr lang="en-US" altLang="zh-CN" sz="2000"/>
          </a:p>
          <a:p>
            <a:pPr marL="0" indent="0">
              <a:buNone/>
            </a:pPr>
            <a:r>
              <a:rPr lang="zh-CN" altLang="en-US" sz="2000"/>
              <a:t>项目管理中常见风险</a:t>
            </a:r>
            <a:r>
              <a:rPr lang="en-US" altLang="zh-CN" sz="2000"/>
              <a:t>(http://blog.snne.cn/5/view/80)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928611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C41CF4-4A13-4AA9-9300-CB7A2E37C86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7B115-9FF3-46AE-AE08-826DEB9A624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271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B1301F9-6B10-4E12-A7C0-C27F0C4F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zh-CN" altLang="zh-CN"/>
              <a:t>项目管理中</a:t>
            </a:r>
            <a:r>
              <a:rPr lang="zh-CN" altLang="en-US"/>
              <a:t>常见</a:t>
            </a:r>
            <a:r>
              <a:rPr lang="zh-CN" altLang="zh-CN"/>
              <a:t>的问题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42CA7-2FA3-49DD-A191-0AB20D2F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764372"/>
            <a:ext cx="7086600" cy="5216013"/>
          </a:xfrm>
        </p:spPr>
        <p:txBody>
          <a:bodyPr anchor="ctr">
            <a:normAutofit/>
          </a:bodyPr>
          <a:lstStyle/>
          <a:p>
            <a:r>
              <a:rPr lang="zh-CN" altLang="zh-CN" sz="2000"/>
              <a:t>项目立项随意</a:t>
            </a:r>
            <a:endParaRPr lang="en-US" altLang="zh-CN" sz="2000"/>
          </a:p>
          <a:p>
            <a:r>
              <a:rPr lang="zh-CN" altLang="zh-CN" sz="2000"/>
              <a:t>项目计划不清楚</a:t>
            </a:r>
            <a:r>
              <a:rPr lang="en-US" altLang="zh-CN" sz="2000"/>
              <a:t>,</a:t>
            </a:r>
            <a:r>
              <a:rPr lang="zh-CN" altLang="zh-CN" sz="2000"/>
              <a:t>项目状态不透明</a:t>
            </a:r>
            <a:endParaRPr lang="en-US" altLang="zh-CN" sz="2000"/>
          </a:p>
          <a:p>
            <a:r>
              <a:rPr lang="zh-CN" altLang="zh-CN" sz="2000"/>
              <a:t>互相推诿</a:t>
            </a:r>
            <a:r>
              <a:rPr lang="en-US" altLang="zh-CN" sz="2000"/>
              <a:t>,</a:t>
            </a:r>
            <a:r>
              <a:rPr lang="zh-CN" altLang="zh-CN" sz="2000"/>
              <a:t>对于延迟的项目</a:t>
            </a:r>
            <a:r>
              <a:rPr lang="en-US" altLang="zh-CN" sz="2000"/>
              <a:t>/</a:t>
            </a:r>
            <a:r>
              <a:rPr lang="zh-CN" altLang="zh-CN" sz="2000"/>
              <a:t>任务</a:t>
            </a:r>
            <a:r>
              <a:rPr lang="en-US" altLang="zh-CN" sz="2000"/>
              <a:t>,</a:t>
            </a:r>
            <a:r>
              <a:rPr lang="zh-CN" altLang="zh-CN" sz="2000"/>
              <a:t>基本都认为问题出在其他团队身上</a:t>
            </a:r>
            <a:r>
              <a:rPr lang="en-US" altLang="zh-CN" sz="2000"/>
              <a:t>,</a:t>
            </a:r>
            <a:r>
              <a:rPr lang="zh-CN" altLang="zh-CN" sz="2000"/>
              <a:t>无相关历史数据供参考</a:t>
            </a:r>
            <a:endParaRPr lang="en-US" altLang="zh-CN" sz="2000"/>
          </a:p>
          <a:p>
            <a:r>
              <a:rPr lang="zh-CN" altLang="zh-CN" sz="2000"/>
              <a:t>产品策划人员没有得到充分授权进行项目的执行</a:t>
            </a:r>
            <a:r>
              <a:rPr lang="en-US" altLang="zh-CN" sz="2000"/>
              <a:t>,</a:t>
            </a:r>
            <a:r>
              <a:rPr lang="zh-CN" altLang="zh-CN" sz="2000"/>
              <a:t>或不知道如何进行进度监控和风险规避</a:t>
            </a:r>
            <a:r>
              <a:rPr lang="en-US" altLang="zh-CN" sz="2000"/>
              <a:t>,</a:t>
            </a:r>
            <a:r>
              <a:rPr lang="zh-CN" altLang="zh-CN" sz="2000"/>
              <a:t>部分策划人员没有动力去进行项目计划</a:t>
            </a:r>
            <a:r>
              <a:rPr lang="en-US" altLang="zh-CN" sz="2000"/>
              <a:t>,</a:t>
            </a:r>
            <a:r>
              <a:rPr lang="zh-CN" altLang="zh-CN" sz="2000"/>
              <a:t>跟踪和了解交付过程</a:t>
            </a:r>
            <a:r>
              <a:rPr lang="en-US" altLang="zh-CN" sz="2000"/>
              <a:t>,</a:t>
            </a:r>
            <a:r>
              <a:rPr lang="zh-CN" altLang="zh-CN" sz="2000"/>
              <a:t>认为策划出的功能后续团队就能自动交付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3647573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301F9-6B10-4E12-A7C0-C27F0C4F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项目管理中</a:t>
            </a:r>
            <a:r>
              <a:rPr lang="zh-CN" altLang="en-US" dirty="0"/>
              <a:t>常见</a:t>
            </a:r>
            <a:r>
              <a:rPr lang="zh-CN" altLang="zh-CN" dirty="0"/>
              <a:t>的问题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42CA7-2FA3-49DD-A191-0AB20D2F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53321"/>
            <a:ext cx="10018713" cy="4218879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dirty="0"/>
              <a:t>会议效率较低</a:t>
            </a:r>
            <a:endParaRPr lang="en-US" altLang="zh-CN" dirty="0"/>
          </a:p>
          <a:p>
            <a:r>
              <a:rPr lang="zh-CN" altLang="zh-CN" dirty="0"/>
              <a:t>需求变更频繁</a:t>
            </a:r>
            <a:r>
              <a:rPr lang="en-US" altLang="zh-CN" dirty="0"/>
              <a:t>,</a:t>
            </a:r>
            <a:r>
              <a:rPr lang="zh-CN" altLang="zh-CN" dirty="0"/>
              <a:t>更无流程</a:t>
            </a:r>
            <a:r>
              <a:rPr lang="en-US" altLang="zh-CN" dirty="0"/>
              <a:t>,</a:t>
            </a:r>
            <a:r>
              <a:rPr lang="zh-CN" altLang="zh-CN" dirty="0"/>
              <a:t>变更原因不清</a:t>
            </a:r>
            <a:r>
              <a:rPr lang="en-US" altLang="zh-CN" dirty="0"/>
              <a:t>,</a:t>
            </a:r>
            <a:r>
              <a:rPr lang="zh-CN" altLang="zh-CN" dirty="0"/>
              <a:t>变更后通知不及时</a:t>
            </a:r>
            <a:endParaRPr lang="en-US" altLang="zh-CN" dirty="0"/>
          </a:p>
          <a:p>
            <a:pPr lvl="1"/>
            <a:r>
              <a:rPr lang="zh-CN" altLang="zh-CN" dirty="0"/>
              <a:t>产品策划考虑不充分</a:t>
            </a:r>
            <a:endParaRPr lang="en-US" altLang="zh-CN" dirty="0"/>
          </a:p>
          <a:p>
            <a:pPr lvl="1"/>
            <a:r>
              <a:rPr lang="zh-CN" altLang="zh-CN" dirty="0"/>
              <a:t>技术实现难度比估算时大</a:t>
            </a:r>
            <a:endParaRPr lang="en-US" altLang="zh-CN" dirty="0"/>
          </a:p>
          <a:p>
            <a:r>
              <a:rPr lang="zh-CN" altLang="zh-CN" dirty="0"/>
              <a:t>很少有人在乎计划的交付日期</a:t>
            </a:r>
            <a:endParaRPr lang="en-US" altLang="zh-CN" dirty="0"/>
          </a:p>
          <a:p>
            <a:r>
              <a:rPr lang="zh-CN" altLang="zh-CN" dirty="0"/>
              <a:t>互相推诿</a:t>
            </a:r>
            <a:r>
              <a:rPr lang="en-US" altLang="zh-CN" dirty="0"/>
              <a:t>,</a:t>
            </a:r>
            <a:r>
              <a:rPr lang="zh-CN" altLang="zh-CN" dirty="0"/>
              <a:t>对于延迟的项目</a:t>
            </a:r>
            <a:r>
              <a:rPr lang="en-US" altLang="zh-CN" dirty="0"/>
              <a:t>/</a:t>
            </a:r>
            <a:r>
              <a:rPr lang="zh-CN" altLang="zh-CN" dirty="0"/>
              <a:t>任务</a:t>
            </a:r>
            <a:r>
              <a:rPr lang="en-US" altLang="zh-CN" dirty="0"/>
              <a:t>,</a:t>
            </a:r>
            <a:r>
              <a:rPr lang="zh-CN" altLang="zh-CN" dirty="0"/>
              <a:t>基本都认为问题出在其他团队身上</a:t>
            </a:r>
            <a:r>
              <a:rPr lang="en-US" altLang="zh-CN" dirty="0"/>
              <a:t>,</a:t>
            </a:r>
            <a:r>
              <a:rPr lang="zh-CN" altLang="zh-CN" dirty="0"/>
              <a:t>无相关历史数据供参考</a:t>
            </a:r>
            <a:endParaRPr lang="en-US" altLang="zh-CN" dirty="0"/>
          </a:p>
          <a:p>
            <a:r>
              <a:rPr lang="zh-CN" altLang="zh-CN" dirty="0"/>
              <a:t>临时性任务多</a:t>
            </a:r>
            <a:r>
              <a:rPr lang="en-US" altLang="zh-CN" dirty="0"/>
              <a:t>,</a:t>
            </a:r>
            <a:r>
              <a:rPr lang="zh-CN" altLang="zh-CN" dirty="0"/>
              <a:t>经常打断正在做的项目</a:t>
            </a:r>
            <a:r>
              <a:rPr lang="en-US" altLang="zh-CN" dirty="0"/>
              <a:t>/</a:t>
            </a:r>
            <a:r>
              <a:rPr lang="zh-CN" altLang="zh-CN" dirty="0"/>
              <a:t>任务</a:t>
            </a:r>
            <a:endParaRPr lang="en-US" altLang="zh-CN" dirty="0"/>
          </a:p>
          <a:p>
            <a:r>
              <a:rPr lang="zh-CN" altLang="zh-CN" dirty="0"/>
              <a:t>上线</a:t>
            </a:r>
            <a:r>
              <a:rPr lang="en-US" altLang="zh-CN" dirty="0"/>
              <a:t>bug,</a:t>
            </a:r>
            <a:r>
              <a:rPr lang="zh-CN" altLang="zh-CN" dirty="0"/>
              <a:t>接近三成的线上</a:t>
            </a:r>
            <a:r>
              <a:rPr lang="en-US" altLang="zh-CN" dirty="0"/>
              <a:t>bug</a:t>
            </a:r>
            <a:r>
              <a:rPr lang="zh-CN" altLang="zh-CN" dirty="0"/>
              <a:t>是由于修改前一个线上</a:t>
            </a:r>
            <a:r>
              <a:rPr lang="en-US" altLang="zh-CN" dirty="0"/>
              <a:t>bug</a:t>
            </a:r>
            <a:r>
              <a:rPr lang="zh-CN" altLang="zh-CN" dirty="0"/>
              <a:t>造成的</a:t>
            </a:r>
            <a:r>
              <a:rPr lang="en-US" altLang="zh-CN" dirty="0"/>
              <a:t>,</a:t>
            </a:r>
            <a:r>
              <a:rPr lang="zh-CN" altLang="zh-CN" dirty="0"/>
              <a:t>测试不充分</a:t>
            </a:r>
            <a:r>
              <a:rPr lang="en-US" altLang="zh-CN" dirty="0"/>
              <a:t>/</a:t>
            </a:r>
            <a:r>
              <a:rPr lang="zh-CN" altLang="zh-CN" dirty="0"/>
              <a:t>仓促上线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4619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656162A-8F62-4FDA-B335-29B2B64E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zh-CN" altLang="zh-CN" sz="3200">
                <a:solidFill>
                  <a:srgbClr val="FFFFFF"/>
                </a:solidFill>
              </a:rPr>
              <a:t>项目管理</a:t>
            </a:r>
            <a:r>
              <a:rPr lang="zh-CN" altLang="en-US" sz="3200">
                <a:solidFill>
                  <a:srgbClr val="FFFFFF"/>
                </a:solidFill>
              </a:rPr>
              <a:t>的</a:t>
            </a:r>
            <a:r>
              <a:rPr lang="zh-CN" altLang="zh-CN" sz="3200">
                <a:solidFill>
                  <a:srgbClr val="FFFFFF"/>
                </a:solidFill>
              </a:rPr>
              <a:t>期望</a:t>
            </a:r>
            <a:endParaRPr lang="zh-CN" altLang="en-US" sz="3200" dirty="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286AA3-9721-46F6-BEC3-C50A12E69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r>
              <a:rPr lang="zh-CN" altLang="zh-CN" sz="2000"/>
              <a:t>项目计划清楚</a:t>
            </a:r>
            <a:r>
              <a:rPr lang="en-US" altLang="zh-CN" sz="2000"/>
              <a:t>,</a:t>
            </a:r>
            <a:r>
              <a:rPr lang="zh-CN" altLang="zh-CN" sz="2000"/>
              <a:t>可视</a:t>
            </a:r>
            <a:r>
              <a:rPr lang="en-US" altLang="zh-CN" sz="2000"/>
              <a:t>,</a:t>
            </a:r>
            <a:r>
              <a:rPr lang="zh-CN" altLang="zh-CN" sz="2000"/>
              <a:t>可控</a:t>
            </a:r>
            <a:endParaRPr lang="en-US" altLang="zh-CN" sz="2000"/>
          </a:p>
          <a:p>
            <a:r>
              <a:rPr lang="zh-CN" altLang="zh-CN" sz="2000"/>
              <a:t>给出一个项目启动评审的决策流程</a:t>
            </a:r>
            <a:r>
              <a:rPr lang="en-US" altLang="zh-CN" sz="2000"/>
              <a:t>,</a:t>
            </a:r>
            <a:r>
              <a:rPr lang="zh-CN" altLang="zh-CN" sz="2000"/>
              <a:t>能够帮助大家识别项目的价值和优先级</a:t>
            </a:r>
            <a:endParaRPr lang="en-US" altLang="zh-CN" sz="2000"/>
          </a:p>
          <a:p>
            <a:r>
              <a:rPr lang="zh-CN" altLang="zh-CN" sz="2000"/>
              <a:t>加强</a:t>
            </a:r>
            <a:r>
              <a:rPr lang="zh-CN" altLang="en-US" sz="2000"/>
              <a:t>参与者</a:t>
            </a:r>
            <a:r>
              <a:rPr lang="zh-CN" altLang="zh-CN" sz="2000"/>
              <a:t>在项目中的合作</a:t>
            </a:r>
            <a:r>
              <a:rPr lang="en-US" altLang="zh-CN" sz="2000"/>
              <a:t>,</a:t>
            </a:r>
            <a:r>
              <a:rPr lang="zh-CN" altLang="zh-CN" sz="2000"/>
              <a:t>使相互的协作更加流畅</a:t>
            </a:r>
            <a:endParaRPr lang="en-US" altLang="zh-CN" sz="2000"/>
          </a:p>
          <a:p>
            <a:r>
              <a:rPr lang="zh-CN" altLang="zh-CN" sz="2000"/>
              <a:t>项目需求更加清楚合理</a:t>
            </a:r>
            <a:r>
              <a:rPr lang="en-US" altLang="zh-CN" sz="2000"/>
              <a:t>,</a:t>
            </a:r>
            <a:r>
              <a:rPr lang="zh-CN" altLang="zh-CN" sz="2000"/>
              <a:t>考虑更全面</a:t>
            </a:r>
            <a:endParaRPr lang="en-US" altLang="zh-CN" sz="2000"/>
          </a:p>
          <a:p>
            <a:r>
              <a:rPr lang="zh-CN" altLang="zh-CN" sz="2000"/>
              <a:t>需求变更有据可依</a:t>
            </a:r>
            <a:r>
              <a:rPr lang="en-US" altLang="zh-CN" sz="2000"/>
              <a:t>,</a:t>
            </a:r>
            <a:r>
              <a:rPr lang="zh-CN" altLang="zh-CN" sz="2000"/>
              <a:t>有据可查</a:t>
            </a:r>
            <a:endParaRPr lang="en-US" altLang="zh-CN" sz="2000"/>
          </a:p>
          <a:p>
            <a:r>
              <a:rPr lang="zh-CN" altLang="zh-CN" sz="2000"/>
              <a:t>提高项目参与人员的主人翁意识和责任感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31425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0B1E1-CC97-4742-9F16-B4901837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C21847-3983-4166-A979-3B38DD4C0225}"/>
              </a:ext>
            </a:extLst>
          </p:cNvPr>
          <p:cNvSpPr txBox="1"/>
          <p:nvPr/>
        </p:nvSpPr>
        <p:spPr>
          <a:xfrm>
            <a:off x="5139159" y="3611301"/>
            <a:ext cx="608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特别感谢</a:t>
            </a:r>
            <a:r>
              <a:rPr lang="en-US" altLang="zh-CN" b="1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《</a:t>
            </a:r>
            <a:r>
              <a:rPr lang="zh-CN" altLang="en-US" dirty="0"/>
              <a:t>网易一千零一夜</a:t>
            </a:r>
            <a:r>
              <a:rPr lang="en-US" altLang="zh-CN" dirty="0"/>
              <a:t>:</a:t>
            </a:r>
            <a:r>
              <a:rPr lang="zh-CN" altLang="en-US" dirty="0"/>
              <a:t>互联网产品项目管理实战</a:t>
            </a:r>
            <a:r>
              <a:rPr lang="en-US" altLang="zh-CN" dirty="0"/>
              <a:t>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568892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视差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256</TotalTime>
  <Words>1779</Words>
  <Application>Microsoft Office PowerPoint</Application>
  <PresentationFormat>宽屏</PresentationFormat>
  <Paragraphs>154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华文楷体</vt:lpstr>
      <vt:lpstr>Arial</vt:lpstr>
      <vt:lpstr>Century Gothic</vt:lpstr>
      <vt:lpstr>Corbel</vt:lpstr>
      <vt:lpstr>视差</vt:lpstr>
      <vt:lpstr>项目管理之个人经验总结</vt:lpstr>
      <vt:lpstr>开始一个项目  </vt:lpstr>
      <vt:lpstr>PowerPoint 演示文稿</vt:lpstr>
      <vt:lpstr>几种主流模式</vt:lpstr>
      <vt:lpstr>边做边改</vt:lpstr>
      <vt:lpstr>瀑布</vt:lpstr>
      <vt:lpstr>迭代/螺旋</vt:lpstr>
      <vt:lpstr>敏捷</vt:lpstr>
      <vt:lpstr>需求</vt:lpstr>
      <vt:lpstr>PowerPoint 演示文稿</vt:lpstr>
      <vt:lpstr>工作量估算</vt:lpstr>
      <vt:lpstr>估算算法</vt:lpstr>
      <vt:lpstr>估算方式</vt:lpstr>
      <vt:lpstr>自下而上</vt:lpstr>
      <vt:lpstr>自上而下的(专家)</vt:lpstr>
      <vt:lpstr>扑克估算</vt:lpstr>
      <vt:lpstr>PowerPoint 演示文稿</vt:lpstr>
      <vt:lpstr>风险控制</vt:lpstr>
      <vt:lpstr>项目管理中常见的问题</vt:lpstr>
      <vt:lpstr>项目管理中常见的问题</vt:lpstr>
      <vt:lpstr>项目管理的期望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项目管理之个人经验总结</dc:title>
  <dc:creator>张鹏</dc:creator>
  <cp:lastModifiedBy>张鹏</cp:lastModifiedBy>
  <cp:revision>48</cp:revision>
  <dcterms:created xsi:type="dcterms:W3CDTF">2018-03-15T01:09:01Z</dcterms:created>
  <dcterms:modified xsi:type="dcterms:W3CDTF">2018-03-16T01:20:11Z</dcterms:modified>
</cp:coreProperties>
</file>